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33327" y="0"/>
            <a:ext cx="155448" cy="6858000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2103120" cy="1328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51460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31F20"/>
                </a:solidFill>
                <a:latin typeface="Calibri"/>
              </a:rPr>
              <a:t>Aplicativo de Reserva de Espacios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5F63"/>
                </a:solidFill>
                <a:latin typeface="Calibri"/>
              </a:rPr>
              <a:t>Reserva, bloqueo y control de laboratorios — UTEC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4434840"/>
            <a:ext cx="201168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1F20"/>
                </a:solidFill>
                <a:latin typeface="Calibri"/>
              </a:rPr>
              <a:t>David Lazo — Responsable Jr., Concept Lab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5F63"/>
                </a:solidFill>
                <a:latin typeface="Calibri"/>
              </a:rPr>
              <a:t>Dirección de Proyectos e Infraestructura Académica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5F63"/>
                </a:solidFill>
                <a:latin typeface="Calibri"/>
              </a:rPr>
              <a:t>Presentación inicial  ·  10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El problema y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212080" cy="4023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1F20"/>
                </a:solidFill>
                <a:latin typeface="Calibri"/>
              </a:rPr>
              <a:t>Hoy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Reserva de laboratorios manual y dispersa</a:t>
            </a:r>
          </a:p>
          <a:p>
            <a:pPr lvl="1" algn="l">
              <a:spcAft>
                <a:spcPts val="1200"/>
              </a:spcAft>
            </a:pPr>
            <a:r>
              <a:rPr sz="1300" b="0">
                <a:solidFill>
                  <a:srgbClr val="5B5F63"/>
                </a:solidFill>
                <a:latin typeface="Calibri"/>
              </a:rPr>
              <a:t>Affluences, correos y hojas de cálculo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Sin control real del uso presencial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Sin datos para tomar decisiones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965960"/>
            <a:ext cx="5166360" cy="4023360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965960"/>
            <a:ext cx="109728" cy="402336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1F20"/>
                </a:solidFill>
                <a:latin typeface="Calibri"/>
              </a:rPr>
              <a:t>La solución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Plataforma web única para reservar, bloquear y controlar labs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Check-in por QR: valida el uso presencial real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Dashboard con analítica para decidir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Modela la jerarquía real UTEC</a:t>
            </a:r>
          </a:p>
          <a:p>
            <a:pPr lvl="1" algn="l">
              <a:spcAft>
                <a:spcPts val="600"/>
              </a:spcAft>
            </a:pPr>
            <a:r>
              <a:rPr sz="1200" b="0">
                <a:solidFill>
                  <a:srgbClr val="5B5F63"/>
                </a:solidFill>
                <a:latin typeface="Calibri"/>
              </a:rPr>
              <a:t>Facultad → Departamento → Laboratorio → Responsable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Cinco roles, cada uno ve solo lo suyo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881360" cy="65836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9728" cy="658368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Nivel máximo · gestión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52344"/>
            <a:ext cx="10881360" cy="65836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52344"/>
            <a:ext cx="109728" cy="658368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7121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Coordinador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3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Gestiona labs y reservas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38727"/>
            <a:ext cx="10881360" cy="65836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38727"/>
            <a:ext cx="109728" cy="658368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5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Director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75887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Sus labs y su departamento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25112"/>
            <a:ext cx="10881360" cy="65836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25112"/>
            <a:ext cx="109728" cy="658368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43983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Responsable de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6227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Solo su(s) lab(s) asignado(s)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11496"/>
            <a:ext cx="10881360" cy="65836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11496"/>
            <a:ext cx="109728" cy="658368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03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Estudiante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4865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Reserva y hace check-in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Recorrido de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Login con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Cuenta institucional @utec.edu.pe, sin contraseñas nuevas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3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Reservar un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62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Elegir mesa/PC, horario y participantes → correo automático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5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1927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Check-in por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9359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Valida el uso presencial real del laboratorio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6907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5079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Bloqueos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251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Mantenimiento, evento o clase · total o parcial (solo ciertas mesas)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59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646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82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Dashboard ejecutivo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5663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KPIs, ocupación por lab, reservas por carrera, reporte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32119"/>
            <a:ext cx="502920" cy="5029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9612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1F2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5138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1F20"/>
                </a:solidFill>
                <a:latin typeface="Calibri"/>
              </a:rPr>
              <a:t>Organización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78815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5F63"/>
                </a:solidFill>
                <a:latin typeface="Calibri"/>
              </a:rPr>
              <a:t>Estructura académica y gestión de personas / 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Qué lo hace diferente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84832"/>
            <a:ext cx="256032" cy="256032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1F20"/>
                </a:solidFill>
                <a:latin typeface="Calibri"/>
              </a:rPr>
              <a:t>Check-in por QR: uso presencial verificado, no solo reservado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34640"/>
            <a:ext cx="256032" cy="256032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1F20"/>
                </a:solidFill>
                <a:latin typeface="Calibri"/>
              </a:rPr>
              <a:t>Dashboard ejecutivo con analítica real (datos de Affluences ya importados)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584448"/>
            <a:ext cx="256032" cy="256032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11296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1F20"/>
                </a:solidFill>
                <a:latin typeface="Calibri"/>
              </a:rPr>
              <a:t>Tiempo real (SSE): los cambios se reflejan al instante en todas las pantallas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334256"/>
            <a:ext cx="256032" cy="256032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611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1F20"/>
                </a:solidFill>
                <a:latin typeface="Calibri"/>
              </a:rPr>
              <a:t>Correos automáticos en cada reserva, bloqueo y 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84064"/>
            <a:ext cx="256032" cy="256032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1091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1F20"/>
                </a:solidFill>
                <a:latin typeface="Calibri"/>
              </a:rPr>
              <a:t>Respeta la jerarquía y los permisos reales de UTEC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SESIÓN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Arquitectura 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74519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01167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React 18 + TypeScript + Vite + TailwindCSS + React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87752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587752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72491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Java 21 + Spring Boot 3.3.5 · API REST por capas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00984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Base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300984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43814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PostgreSQL 16 · migraciones con Flyway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14216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Infra de apoyo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014216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415137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Redis (caché) + RabbitMQ (correos asíncronos)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27448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646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Autenticación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27448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86460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Google OAuth2 + JWT · refresh en cookie HttpOnly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440680"/>
            <a:ext cx="2880360" cy="603504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1F20"/>
                </a:solidFill>
                <a:latin typeface="Calibri"/>
              </a:rPr>
              <a:t>Despliegue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5440680"/>
            <a:ext cx="7863840" cy="603504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5577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5F63"/>
                </a:solidFill>
                <a:latin typeface="Calibri"/>
              </a:rPr>
              <a:t>Docker Compose · listo para el entorno que TI indique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SESIÓN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Documentación y calidad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49240" cy="41148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1F20"/>
                </a:solidFill>
                <a:latin typeface="Calibri"/>
              </a:rPr>
              <a:t>Documentación · 16 entregables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5F63"/>
                </a:solidFill>
                <a:latin typeface="Calibri"/>
              </a:rPr>
              <a:t>•  Diagramas C4, ERD, clases y secuencia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5F63"/>
                </a:solidFill>
                <a:latin typeface="Calibri"/>
              </a:rPr>
              <a:t>•  Documentación de API y matriz de roles/permisos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5F63"/>
                </a:solidFill>
                <a:latin typeface="Calibri"/>
              </a:rPr>
              <a:t>•  Manual técnico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B5F63"/>
                </a:solidFill>
                <a:latin typeface="Calibri"/>
              </a:rPr>
              <a:t>•  Manuales de usuario ilustrados (alumno + admin, PDF)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65960"/>
            <a:ext cx="5349240" cy="4114800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109728" cy="41148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1F20"/>
                </a:solidFill>
                <a:latin typeface="Calibri"/>
              </a:rPr>
              <a:t>Calidad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31F20"/>
                </a:solidFill>
                <a:latin typeface="Calibri"/>
              </a:rPr>
              <a:t>•  294 tests backend + 215 frontend (todos verdes)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31F20"/>
                </a:solidFill>
                <a:latin typeface="Calibri"/>
              </a:rPr>
              <a:t>•  Cobertura ~94% backend · ~85% frontend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31F20"/>
                </a:solidFill>
                <a:latin typeface="Calibri"/>
              </a:rPr>
              <a:t>•  CI en GitHub Actions: bloquea si baja la cobertura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Escalabilidad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31F20"/>
                </a:solidFill>
                <a:latin typeface="Calibri"/>
              </a:rPr>
              <a:t>9,528 alumnos reales ya cargados — pensado para toda la universidad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Paginación en listados grandes (usuarios y reservas): no baja miles de registros de golpe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ShedLock: los procesos programados corren una sola vez → escalable horizontalmente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B5F63"/>
                </a:solidFill>
                <a:latin typeface="Calibri"/>
              </a:rPr>
              <a:t>•  Índices de rendimiento y anti-doble-reserva a nivel de base de datos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B5F63"/>
                </a:solidFill>
                <a:latin typeface="Calibri"/>
              </a:rPr>
              <a:t>•  Punto abierto: el tiempo real (SSE) hoy es de una instancia; multi-instancia = fan-out por Redis/RabbitMQ (ya identificado)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777240"/>
          </a:xfrm>
          <a:prstGeom prst="rect">
            <a:avLst/>
          </a:prstGeom>
          <a:solidFill>
            <a:srgbClr val="BF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Calibri"/>
              </a:rPr>
              <a:t>2 auditorías internas (OWASP 2025 / CWE Top 25):  Risk 28/100 — Medio · 0 críticas · 0 altas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1F20"/>
                </a:solidFill>
                <a:latin typeface="Calibri"/>
              </a:rPr>
              <a:t>Google OAuth2 (@utec.edu.pe) + JWT; refresh en cookie HttpOnly + Secure + SameSite (anti-XSS)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Autorización por rol y por pertenencia; protección contra IDOR verificada endpoint por endpoint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F20"/>
                </a:solidFill>
                <a:latin typeface="Calibri"/>
              </a:rPr>
              <a:t>•  Secretos fuera del repositorio · cabeceras HSTS/CSP · actuator protegido · CORS restringido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015EEA"/>
                </a:solidFill>
                <a:latin typeface="Calibri"/>
              </a:rPr>
              <a:t>•  Abierto a alinear con las políticas y estándares de seguridad de UTEC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te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384048"/>
            <a:ext cx="1143000" cy="7219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15EEA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1F20"/>
                </a:solidFill>
                <a:latin typeface="Calibri"/>
              </a:rPr>
              <a:t>Próximos pasos propuestos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1F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1F20"/>
                </a:solidFill>
                <a:latin typeface="Calibri"/>
              </a:rPr>
              <a:t>Sesión técnica con TI: arquitectura, tecnología y documentación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1F2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1F20"/>
                </a:solidFill>
                <a:latin typeface="Calibri"/>
              </a:rPr>
              <a:t>Validación de escalabilidad y ajustes según estándares UTEC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1F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3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1F20"/>
                </a:solidFill>
                <a:latin typeface="Calibri"/>
              </a:rPr>
              <a:t>Piloto en los labs de Proyectos e Infraestructura Académica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1F2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5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1F20"/>
                </a:solidFill>
                <a:latin typeface="Calibri"/>
              </a:rPr>
              <a:t>Definir entorno de despliegue e integraciones (SSO institucional)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59"/>
            <a:ext cx="457200" cy="4572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1F20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8347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1F20"/>
                </a:solidFill>
                <a:latin typeface="Calibri"/>
              </a:rPr>
              <a:t>Extensión progresiva al resto de laboratorios de la universidad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611880"/>
            <a:ext cx="2011680" cy="54864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FFF"/>
                </a:solidFill>
                <a:latin typeface="Calibri"/>
              </a:rPr>
              <a:t>David Lazo — Responsable Jr., Concept Lab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C8C8C8"/>
                </a:solidFill>
                <a:latin typeface="Calibri"/>
              </a:rPr>
              <a:t>dlazo@utec.edu.pe  ·  Anexo 9059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